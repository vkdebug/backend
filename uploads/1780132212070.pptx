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DM Sans Medium"/>
      <p:regular r:id="rId13"/>
      <p:bold r:id="rId14"/>
      <p:italic r:id="rId15"/>
      <p:boldItalic r:id="rId16"/>
    </p:embeddedFont>
    <p:embeddedFont>
      <p:font typeface="DM Sans"/>
      <p:regular r:id="rId17"/>
      <p:bold r:id="rId18"/>
      <p:italic r:id="rId19"/>
      <p:boldItalic r:id="rId20"/>
    </p:embeddedFont>
    <p:embeddedFont>
      <p:font typeface="Merriweather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boldItalic.fntdata"/><Relationship Id="rId11" Type="http://schemas.openxmlformats.org/officeDocument/2006/relationships/slide" Target="slides/slide6.xml"/><Relationship Id="rId22" Type="http://schemas.openxmlformats.org/officeDocument/2006/relationships/font" Target="fonts/Merriweather-bold.fntdata"/><Relationship Id="rId10" Type="http://schemas.openxmlformats.org/officeDocument/2006/relationships/slide" Target="slides/slide5.xml"/><Relationship Id="rId21" Type="http://schemas.openxmlformats.org/officeDocument/2006/relationships/font" Target="fonts/Merriweather-regular.fntdata"/><Relationship Id="rId13" Type="http://schemas.openxmlformats.org/officeDocument/2006/relationships/font" Target="fonts/DMSansMedium-regular.fntdata"/><Relationship Id="rId24" Type="http://schemas.openxmlformats.org/officeDocument/2006/relationships/font" Target="fonts/Merriweather-boldItalic.fntdata"/><Relationship Id="rId12" Type="http://schemas.openxmlformats.org/officeDocument/2006/relationships/slide" Target="slides/slide7.xml"/><Relationship Id="rId23" Type="http://schemas.openxmlformats.org/officeDocument/2006/relationships/font" Target="fonts/Merriweather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DMSansMedium-italic.fntdata"/><Relationship Id="rId14" Type="http://schemas.openxmlformats.org/officeDocument/2006/relationships/font" Target="fonts/DMSansMedium-bold.fntdata"/><Relationship Id="rId17" Type="http://schemas.openxmlformats.org/officeDocument/2006/relationships/font" Target="fonts/DMSans-regular.fntdata"/><Relationship Id="rId16" Type="http://schemas.openxmlformats.org/officeDocument/2006/relationships/font" Target="fonts/DMSansMedium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italic.fntdata"/><Relationship Id="rId6" Type="http://schemas.openxmlformats.org/officeDocument/2006/relationships/slide" Target="slides/slide1.xml"/><Relationship Id="rId18" Type="http://schemas.openxmlformats.org/officeDocument/2006/relationships/font" Target="fonts/DM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9" Type="http://schemas.openxmlformats.org/officeDocument/2006/relationships/image" Target="../media/image13.png"/><Relationship Id="rId5" Type="http://schemas.openxmlformats.org/officeDocument/2006/relationships/image" Target="../media/image11.png"/><Relationship Id="rId6" Type="http://schemas.openxmlformats.org/officeDocument/2006/relationships/image" Target="../media/image6.png"/><Relationship Id="rId7" Type="http://schemas.openxmlformats.org/officeDocument/2006/relationships/image" Target="../media/image5.png"/><Relationship Id="rId8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9.png"/><Relationship Id="rId7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11" Type="http://schemas.openxmlformats.org/officeDocument/2006/relationships/image" Target="../media/image17.png"/><Relationship Id="rId10" Type="http://schemas.openxmlformats.org/officeDocument/2006/relationships/image" Target="../media/image21.png"/><Relationship Id="rId9" Type="http://schemas.openxmlformats.org/officeDocument/2006/relationships/image" Target="../media/image19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image" Target="../media/image18.png"/><Relationship Id="rId8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143000" y="4499371"/>
            <a:ext cx="162877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202C"/>
                </a:solidFill>
                <a:latin typeface="DM Sans"/>
                <a:ea typeface="DM Sans"/>
                <a:cs typeface="DM Sans"/>
                <a:sym typeface="DM Sans"/>
              </a:rPr>
              <a:t>Vivek Kumar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718096"/>
                </a:solidFill>
                <a:latin typeface="DM Sans"/>
                <a:ea typeface="DM Sans"/>
                <a:cs typeface="DM Sans"/>
                <a:sym typeface="DM Sans"/>
              </a:rPr>
              <a:t>B.Tech (CSE)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9344025" y="4499371"/>
            <a:ext cx="170497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202C"/>
                </a:solidFill>
                <a:latin typeface="DM Sans"/>
                <a:ea typeface="DM Sans"/>
                <a:cs typeface="DM Sans"/>
                <a:sym typeface="DM Sans"/>
              </a:rPr>
              <a:t>Prince Tomer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718096"/>
                </a:solidFill>
                <a:latin typeface="DM Sans"/>
                <a:ea typeface="DM Sans"/>
                <a:cs typeface="DM Sans"/>
                <a:sym typeface="DM Sans"/>
              </a:rPr>
              <a:t>B.Tech (CSE)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1296650" y="6400800"/>
            <a:ext cx="1333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0"/>
                </a:solidFill>
                <a:latin typeface="DM Sans"/>
                <a:ea typeface="DM Sans"/>
                <a:cs typeface="DM Sans"/>
                <a:sym typeface="DM Sans"/>
              </a:rPr>
              <a:t>01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95300" y="952500"/>
            <a:ext cx="11201400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1A202C"/>
                </a:solidFill>
                <a:latin typeface="Merriweather"/>
                <a:ea typeface="Merriweather"/>
                <a:cs typeface="Merriweather"/>
                <a:sym typeface="Merriweather"/>
              </a:rPr>
              <a:t>TeachMate: AI-Powered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1A202C"/>
                </a:solidFill>
                <a:latin typeface="Merriweather"/>
                <a:ea typeface="Merriweather"/>
                <a:cs typeface="Merriweather"/>
                <a:sym typeface="Merriweather"/>
              </a:rPr>
              <a:t> Role-Based LMS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62000" y="2784871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An intelligent ecosystem designed for technical &amp; vocational excellence.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62000" y="5861446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Galgotias University, Greater Noida, India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86575" y="1619250"/>
            <a:ext cx="4543425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1678781"/>
            <a:ext cx="2681287" cy="211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33787" y="1678781"/>
            <a:ext cx="2681287" cy="211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3983831"/>
            <a:ext cx="2681287" cy="21478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33787" y="3983831"/>
            <a:ext cx="2681287" cy="21478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886575" y="3053953"/>
            <a:ext cx="4543425" cy="170244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990600" y="571500"/>
            <a:ext cx="1096137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202C"/>
                </a:solidFill>
                <a:latin typeface="Merriweather"/>
                <a:ea typeface="Merriweather"/>
                <a:cs typeface="Merriweather"/>
                <a:sym typeface="Merriweather"/>
              </a:rPr>
              <a:t>Addressing Educational Gaps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762000" y="571500"/>
            <a:ext cx="114300" cy="5715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11258550" y="6400800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0"/>
                </a:solidFill>
                <a:latin typeface="DM Sans"/>
                <a:ea typeface="DM Sans"/>
                <a:cs typeface="DM Sans"/>
                <a:sym typeface="DM Sans"/>
              </a:rPr>
              <a:t>02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066800" y="1945481"/>
            <a:ext cx="22052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Static Frameworks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066800" y="2383631"/>
            <a:ext cx="2100262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Transitioning from basic content libraries to active, role-based personalization.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3938587" y="1945481"/>
            <a:ext cx="22052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Individual Velocity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3938587" y="2383631"/>
            <a:ext cx="2100262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Adapting curriculum delivery to match diverse learning speeds and strategies.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066800" y="4250531"/>
            <a:ext cx="220527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Immediate Intervention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1066800" y="4964906"/>
            <a:ext cx="2100262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Utilizing NLP and real-time alerts to provide support exactly when needed.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3938587" y="4250531"/>
            <a:ext cx="22052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Predictive Insights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3938587" y="4688681"/>
            <a:ext cx="2100262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Converting platform interactions into models for student success forecasting.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86575" y="1619250"/>
            <a:ext cx="4543425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96100" y="1903214"/>
            <a:ext cx="4524375" cy="4004071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990600" y="571500"/>
            <a:ext cx="1096137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202C"/>
                </a:solidFill>
                <a:latin typeface="Merriweather"/>
                <a:ea typeface="Merriweather"/>
                <a:cs typeface="Merriweather"/>
                <a:sym typeface="Merriweather"/>
              </a:rPr>
              <a:t>Intelligent System Architecture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762000" y="571500"/>
            <a:ext cx="114300" cy="5715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11258550" y="6400800"/>
            <a:ext cx="1714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0"/>
                </a:solidFill>
                <a:latin typeface="DM Sans"/>
                <a:ea typeface="DM Sans"/>
                <a:cs typeface="DM Sans"/>
                <a:sym typeface="DM Sans"/>
              </a:rPr>
              <a:t>03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762000" y="1966912"/>
            <a:ext cx="583072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A202C"/>
                </a:solidFill>
                <a:latin typeface="DM Sans"/>
                <a:ea typeface="DM Sans"/>
                <a:cs typeface="DM Sans"/>
                <a:sym typeface="DM Sans"/>
              </a:rPr>
              <a:t>Modular Functional Design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914400" y="2566987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990600" y="2566987"/>
            <a:ext cx="53244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Role-Based Access:</a:t>
            </a:r>
            <a:r>
              <a:rPr b="0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Specific optimized interfaces for Students, Teachers, and Administrators.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914400" y="3386137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990600" y="3386137"/>
            <a:ext cx="53244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Adaptive Engine:</a:t>
            </a:r>
            <a:r>
              <a:rPr b="0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ML models mapping learning paths based on performance patterns.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914400" y="4205287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990600" y="4205287"/>
            <a:ext cx="53244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Automated Assistance:</a:t>
            </a:r>
            <a:r>
              <a:rPr b="0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Integrated NLP chatbots for query resolution.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914400" y="5024437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990600" y="5024437"/>
            <a:ext cx="53244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Learning Analytics:</a:t>
            </a:r>
            <a:r>
              <a:rPr b="0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Real-time processing of activity data.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804987"/>
            <a:ext cx="5143500" cy="19097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804987"/>
            <a:ext cx="5143500" cy="19097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095750"/>
            <a:ext cx="5143500" cy="19097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4095750"/>
            <a:ext cx="5143500" cy="190976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990600" y="571500"/>
            <a:ext cx="1096137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202C"/>
                </a:solidFill>
                <a:latin typeface="Merriweather"/>
                <a:ea typeface="Merriweather"/>
                <a:cs typeface="Merriweather"/>
                <a:sym typeface="Merriweather"/>
              </a:rPr>
              <a:t>Core Modules &amp; Capabilities</a:t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762000" y="571500"/>
            <a:ext cx="114300" cy="5715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11249025" y="6400800"/>
            <a:ext cx="1809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0"/>
                </a:solidFill>
                <a:latin typeface="DM Sans"/>
                <a:ea typeface="DM Sans"/>
                <a:cs typeface="DM Sans"/>
                <a:sym typeface="DM Sans"/>
              </a:rPr>
              <a:t>04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1038225" y="2109787"/>
            <a:ext cx="482060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Course Management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1038225" y="2547937"/>
            <a:ext cx="4591050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Allows instructors to seamlessly upload multimedia resources and define prerequisite structures for automated, sequential learning.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6562725" y="2109787"/>
            <a:ext cx="482060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Smart Assessment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6562725" y="2547937"/>
            <a:ext cx="4591050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Features auto-grading for quizzes and automated plagiarism detection, reducing manual evaluation time for educators.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1038225" y="4400550"/>
            <a:ext cx="482060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Interactive AI Chatbot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1038225" y="4838700"/>
            <a:ext cx="45910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An integrated NLP assistant available 24/7 to clarify course material and guide users through platform functionalities.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6562725" y="4400550"/>
            <a:ext cx="482060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Analytics Dashboard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6562725" y="4838700"/>
            <a:ext cx="4591050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Provides faculty with visualized data on progress, engagement rates, and predictive risk factors for early intervention.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048375"/>
            <a:ext cx="10668000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524125"/>
            <a:ext cx="2452687" cy="2952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00437" y="2524125"/>
            <a:ext cx="2452687" cy="2952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38875" y="2524125"/>
            <a:ext cx="2452687" cy="2952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77312" y="2524125"/>
            <a:ext cx="2452687" cy="2952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750218" y="291465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26743" y="2914650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227093" y="291465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965531" y="291465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990600" y="571500"/>
            <a:ext cx="1096137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202C"/>
                </a:solidFill>
                <a:latin typeface="Merriweather"/>
                <a:ea typeface="Merriweather"/>
                <a:cs typeface="Merriweather"/>
                <a:sym typeface="Merriweather"/>
              </a:rPr>
              <a:t>The TeachMate Learning Experience</a:t>
            </a:r>
            <a:endParaRPr/>
          </a:p>
        </p:txBody>
      </p:sp>
      <p:sp>
        <p:nvSpPr>
          <p:cNvPr id="167" name="Google Shape;167;p17"/>
          <p:cNvSpPr/>
          <p:nvPr/>
        </p:nvSpPr>
        <p:spPr>
          <a:xfrm>
            <a:off x="762000" y="571500"/>
            <a:ext cx="114300" cy="5715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 txBox="1"/>
          <p:nvPr/>
        </p:nvSpPr>
        <p:spPr>
          <a:xfrm>
            <a:off x="11249025" y="6400800"/>
            <a:ext cx="1809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0"/>
                </a:solidFill>
                <a:latin typeface="DM Sans"/>
                <a:ea typeface="DM Sans"/>
                <a:cs typeface="DM Sans"/>
                <a:sym typeface="DM Sans"/>
              </a:rPr>
              <a:t>05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762000" y="1733550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Harnessing AI to create a seamless, high-performance pedagogical environment.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1057275" y="6343650"/>
            <a:ext cx="100774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Empowering learners and educators through adaptive, data-driven intelligence.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1010721" y="3629025"/>
            <a:ext cx="195524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A202C"/>
                </a:solidFill>
                <a:latin typeface="DM Sans"/>
                <a:ea typeface="DM Sans"/>
                <a:cs typeface="DM Sans"/>
                <a:sym typeface="DM Sans"/>
              </a:rPr>
              <a:t>Cognitive Pacing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1057275" y="4019550"/>
            <a:ext cx="186213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AI adjusts material difficulty and delivery based on real-time comprehension levels.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3749159" y="3629025"/>
            <a:ext cx="195524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A202C"/>
                </a:solidFill>
                <a:latin typeface="DM Sans"/>
                <a:ea typeface="DM Sans"/>
                <a:cs typeface="DM Sans"/>
                <a:sym typeface="DM Sans"/>
              </a:rPr>
              <a:t>NLP Support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3795712" y="4019550"/>
            <a:ext cx="186213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Natural language interactions for instant academic guidance and platform support.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6487596" y="3629025"/>
            <a:ext cx="195524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A202C"/>
                </a:solidFill>
                <a:latin typeface="DM Sans"/>
                <a:ea typeface="DM Sans"/>
                <a:cs typeface="DM Sans"/>
                <a:sym typeface="DM Sans"/>
              </a:rPr>
              <a:t>Visual Insights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6534150" y="4019550"/>
            <a:ext cx="186213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Interactive progress maps for tracking complex technical skill acquisition over time.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9226034" y="3629025"/>
            <a:ext cx="195524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A202C"/>
                </a:solidFill>
                <a:latin typeface="DM Sans"/>
                <a:ea typeface="DM Sans"/>
                <a:cs typeface="DM Sans"/>
                <a:sym typeface="DM Sans"/>
              </a:rPr>
              <a:t>Role Security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9272587" y="4019550"/>
            <a:ext cx="186213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Encrypted, context-aware environments tailored for specific academic roles.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8"/>
          <p:cNvSpPr txBox="1"/>
          <p:nvPr/>
        </p:nvSpPr>
        <p:spPr>
          <a:xfrm>
            <a:off x="990600" y="571500"/>
            <a:ext cx="1096137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202C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 &amp; Future Scope</a:t>
            </a:r>
            <a:endParaRPr/>
          </a:p>
        </p:txBody>
      </p:sp>
      <p:sp>
        <p:nvSpPr>
          <p:cNvPr id="185" name="Google Shape;185;p18"/>
          <p:cNvSpPr/>
          <p:nvPr/>
        </p:nvSpPr>
        <p:spPr>
          <a:xfrm>
            <a:off x="762000" y="571500"/>
            <a:ext cx="114300" cy="5715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 txBox="1"/>
          <p:nvPr/>
        </p:nvSpPr>
        <p:spPr>
          <a:xfrm>
            <a:off x="11249025" y="6400800"/>
            <a:ext cx="1809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0"/>
                </a:solidFill>
                <a:latin typeface="DM Sans"/>
                <a:ea typeface="DM Sans"/>
                <a:cs typeface="DM Sans"/>
                <a:sym typeface="DM Sans"/>
              </a:rPr>
              <a:t>06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762000" y="2016918"/>
            <a:ext cx="530066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Project Summary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762000" y="2559843"/>
            <a:ext cx="504825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TeachMate bridges the gap in digital education by combining </a:t>
            </a:r>
            <a:r>
              <a:rPr b="1" i="0" lang="en-US" sz="1425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Adaptive Intelligence</a:t>
            </a:r>
            <a:r>
              <a:rPr b="0" i="0" lang="en-US" sz="1425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with </a:t>
            </a:r>
            <a:r>
              <a:rPr b="1" i="0" lang="en-US" sz="1425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Role-Based Access Control</a:t>
            </a:r>
            <a:r>
              <a:rPr b="0" i="0" lang="en-US" sz="1425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6781800" y="2016918"/>
            <a:ext cx="488061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Future Directions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876300" y="3545681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952500" y="3545681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Enhances student engagement through personalized content delivery.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876300" y="4269581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952500" y="4269581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Reduces instructor workload via automated grading and prediction.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876300" y="4993481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952500" y="4993481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Ensures secure and intelligent decision-making for administrators.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6896100" y="2559843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6972300" y="2559843"/>
            <a:ext cx="44577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Integration of </a:t>
            </a:r>
            <a:r>
              <a:rPr b="1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Deep Learning</a:t>
            </a:r>
            <a:r>
              <a:rPr b="0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for behavioral prediction.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6896100" y="3283743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6972300" y="3283743"/>
            <a:ext cx="44577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Implementation of </a:t>
            </a:r>
            <a:r>
              <a:rPr b="1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Multilingual NLP</a:t>
            </a:r>
            <a:r>
              <a:rPr b="0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for global accessibility.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6896100" y="4007643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6972300" y="4007643"/>
            <a:ext cx="44577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Exploring </a:t>
            </a:r>
            <a:r>
              <a:rPr b="1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VR/AR &amp; Blockchain</a:t>
            </a:r>
            <a:r>
              <a:rPr b="0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for immersive learning.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6896100" y="4731543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6972300" y="4731543"/>
            <a:ext cx="44577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Expanding API integrations with academic libraries.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331565"/>
            <a:ext cx="8096250" cy="419472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9"/>
          <p:cNvSpPr/>
          <p:nvPr/>
        </p:nvSpPr>
        <p:spPr>
          <a:xfrm>
            <a:off x="1333500" y="3887985"/>
            <a:ext cx="6953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 txBox="1"/>
          <p:nvPr/>
        </p:nvSpPr>
        <p:spPr>
          <a:xfrm>
            <a:off x="1333500" y="4659510"/>
            <a:ext cx="6953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202C"/>
                </a:solidFill>
                <a:latin typeface="DM Sans"/>
                <a:ea typeface="DM Sans"/>
                <a:cs typeface="DM Sans"/>
                <a:sym typeface="DM Sans"/>
              </a:rPr>
              <a:t>vk6918100@gmail.com </a:t>
            </a:r>
            <a:r>
              <a:rPr b="1" i="0" lang="en-US" sz="1800" u="none" cap="none" strike="noStrike">
                <a:solidFill>
                  <a:srgbClr val="CBD5E0"/>
                </a:solidFill>
                <a:latin typeface="DM Sans"/>
                <a:ea typeface="DM Sans"/>
                <a:cs typeface="DM Sans"/>
                <a:sym typeface="DM Sans"/>
              </a:rPr>
              <a:t>|</a:t>
            </a:r>
            <a:r>
              <a:rPr b="1" i="0" lang="en-US" sz="1800" u="none" cap="none" strike="noStrike">
                <a:solidFill>
                  <a:srgbClr val="1A202C"/>
                </a:solidFill>
                <a:latin typeface="DM Sans"/>
                <a:ea typeface="DM Sans"/>
                <a:cs typeface="DM Sans"/>
                <a:sym typeface="DM Sans"/>
              </a:rPr>
              <a:t> tomerprince188@gmail.com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11268075" y="6400800"/>
            <a:ext cx="1619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0"/>
                </a:solidFill>
                <a:latin typeface="DM Sans"/>
                <a:ea typeface="DM Sans"/>
                <a:cs typeface="DM Sans"/>
                <a:sym typeface="DM Sans"/>
              </a:rPr>
              <a:t>07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1159668" y="1960215"/>
            <a:ext cx="7300912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Thank You!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1333500" y="3106935"/>
            <a:ext cx="6953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Questions and feedback are welcome.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1159668" y="4278510"/>
            <a:ext cx="730091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718096"/>
                </a:solidFill>
                <a:latin typeface="Merriweather"/>
                <a:ea typeface="Merriweather"/>
                <a:cs typeface="Merriweather"/>
                <a:sym typeface="Merriweather"/>
              </a:rPr>
              <a:t>CONTACT INFORMATION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